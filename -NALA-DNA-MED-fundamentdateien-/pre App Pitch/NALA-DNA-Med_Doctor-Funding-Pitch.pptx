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sagen: Das ist kein Diagnostik-Tool. Es ist ein lokales Research- und Entscheidungsunterstuetzungs-Konzept fuer sichere Experimente, Literatur und Kandidaten-Ranking.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LA_BLACK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10F2A5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NALA-DNA-Med aPP | Research Support - nicht fuer Diagnose/Therapie validiert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424160" y="6556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F2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NALA-cORe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6616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6616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4124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4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NALA-DNA-Med aPP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21792" y="151790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9AA7A9"/>
                </a:solidFill>
              </a:rPr>
              <a:t>Lokale, datengeschuetzte KI-Forschungsplattform fuer Aerzt:innen, Spitaeler und medizinische Gremien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58368" y="2331720"/>
            <a:ext cx="1115568" cy="310896"/>
          </a:xfrm>
          <a:prstGeom prst="roundRect">
            <a:avLst>
              <a:gd name="adj" fmla="val 17647"/>
            </a:avLst>
          </a:prstGeom>
          <a:solidFill>
            <a:srgbClr val="0B1714"/>
          </a:solidFill>
          <a:ln w="12700">
            <a:solidFill>
              <a:srgbClr val="10F2A5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404872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F2A5"/>
                </a:solidFill>
              </a:rPr>
              <a:t>Local-first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901952" y="233172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0B1714"/>
          </a:solidFill>
          <a:ln w="12700">
            <a:solidFill>
              <a:srgbClr val="10F2A5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404872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F2A5"/>
                </a:solidFill>
              </a:rPr>
              <a:t>TenantShield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28416" y="2331720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0B1714"/>
          </a:solidFill>
          <a:ln w="12700">
            <a:solidFill>
              <a:srgbClr val="10F2A5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8144" y="2404872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F2A5"/>
                </a:solidFill>
              </a:rPr>
              <a:t>Auditierbar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53712" y="233172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0B1714"/>
          </a:solidFill>
          <a:ln w="12700">
            <a:solidFill>
              <a:srgbClr val="10F2A5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404872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F2A5"/>
                </a:solidFill>
              </a:rPr>
              <a:t>BioLab Demo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65008" y="612648"/>
            <a:ext cx="3529584" cy="3986784"/>
          </a:xfrm>
          <a:prstGeom prst="roundRect">
            <a:avLst>
              <a:gd name="adj" fmla="val 2073"/>
            </a:avLst>
          </a:prstGeom>
          <a:solidFill>
            <a:srgbClr val="0A0E11"/>
          </a:solidFill>
          <a:ln w="15240">
            <a:solidFill>
              <a:srgbClr val="10F2A5">
                <a:alpha val="50000"/>
              </a:srgbClr>
            </a:solidFill>
            <a:prstDash val="solid"/>
          </a:ln>
        </p:spPr>
      </p:sp>
      <p:pic>
        <p:nvPicPr>
          <p:cNvPr id="13" name="Image 0" descr="/mnt/data/NALA-DNA-Med-aPP_MasterPackage/mockups/02_dashboard.png">    </p:cNvPr>
          <p:cNvPicPr>
            <a:picLocks noChangeAspect="1"/>
          </p:cNvPicPr>
          <p:nvPr/>
        </p:nvPicPr>
        <p:blipFill>
          <a:blip r:embed="rId1"/>
          <a:srcRect l="22384" r="22384" t="0" b="0"/>
          <a:stretch/>
        </p:blipFill>
        <p:spPr>
          <a:xfrm>
            <a:off x="8092440" y="640080"/>
            <a:ext cx="3474720" cy="39319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8368" y="3703320"/>
            <a:ext cx="6537960" cy="1508760"/>
          </a:xfrm>
          <a:prstGeom prst="roundRect">
            <a:avLst>
              <a:gd name="adj" fmla="val 4848"/>
            </a:avLst>
          </a:prstGeom>
          <a:solidFill>
            <a:srgbClr val="0B1114">
              <a:alpha val="97000"/>
            </a:srgbClr>
          </a:solidFill>
          <a:ln w="12700">
            <a:solidFill>
              <a:srgbClr val="26343A">
                <a:alpha val="7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931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F2A5"/>
                </a:solidFill>
              </a:rPr>
              <a:t>Pitch-Ziel heute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4261104"/>
            <a:ext cx="583387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1F4F3"/>
                </a:solidFill>
              </a:rPr>
              <a:t>In 10 Minuten zeigen: Warum eine sichere lokale Bio-/DNA-KI-App fuer klinische Forschung, Literaturarbeit und Projektentscheidungen Sinn macht - ohne Patientendaten in fremde Clouds zu kippen.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640080" y="59893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A9"/>
                </a:solidFill>
              </a:rPr>
              <a:t>Michael Dreher | NALA-cORe | GitHub: Master-MD/NALA-DNA-Med-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6616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4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 klinische Pain Point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A9"/>
                </a:solidFill>
              </a:rPr>
              <a:t>Forschungsideen, Papers und Projektdaten sind verteilt - aber Datenschutz und Nachvollziehbarkeit muessen sitzen.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52144"/>
            <a:ext cx="2377440" cy="0"/>
          </a:xfrm>
          <a:prstGeom prst="line">
            <a:avLst/>
          </a:prstGeom>
          <a:noFill/>
          <a:ln w="25400">
            <a:solidFill>
              <a:srgbClr val="10F2A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3063240" cy="2971800"/>
          </a:xfrm>
          <a:prstGeom prst="roundRect">
            <a:avLst>
              <a:gd name="adj" fmla="val 2462"/>
            </a:avLst>
          </a:prstGeom>
          <a:solidFill>
            <a:srgbClr val="0D1317">
              <a:alpha val="97000"/>
            </a:srgbClr>
          </a:solidFill>
          <a:ln w="12700">
            <a:solidFill>
              <a:srgbClr val="26343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F2A5"/>
                </a:solidFill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267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4F3"/>
                </a:solidFill>
              </a:rPr>
              <a:t>Zeitverlust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798064"/>
            <a:ext cx="257860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AA7A9"/>
                </a:solidFill>
              </a:rPr>
              <a:t>Papers, Studien, Molekuellisten und Notizen liegen in verschiedenen Tools. Gute Fragen gehen im Alltag unter.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51960" y="1600200"/>
            <a:ext cx="3063240" cy="2971800"/>
          </a:xfrm>
          <a:prstGeom prst="roundRect">
            <a:avLst>
              <a:gd name="adj" fmla="val 2462"/>
            </a:avLst>
          </a:prstGeom>
          <a:solidFill>
            <a:srgbClr val="0D1317">
              <a:alpha val="97000"/>
            </a:srgbClr>
          </a:solidFill>
          <a:ln w="12700">
            <a:solidFill>
              <a:srgbClr val="26343A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828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F2A5"/>
                </a:solidFill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0560" y="2267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4F3"/>
                </a:solidFill>
              </a:rPr>
              <a:t>Datenrisiko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80560" y="2798064"/>
            <a:ext cx="257860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AA7A9"/>
                </a:solidFill>
              </a:rPr>
              <a:t>Cloud-KI ist bequem, aber nicht jede Fragestellung oder Datei gehoert in externe Systeme.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18120" y="1600200"/>
            <a:ext cx="3063240" cy="2971800"/>
          </a:xfrm>
          <a:prstGeom prst="roundRect">
            <a:avLst>
              <a:gd name="adj" fmla="val 2462"/>
            </a:avLst>
          </a:prstGeom>
          <a:solidFill>
            <a:srgbClr val="0D1317">
              <a:alpha val="97000"/>
            </a:srgbClr>
          </a:solidFill>
          <a:ln w="12700">
            <a:solidFill>
              <a:srgbClr val="26343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828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F2A5"/>
                </a:solidFill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46720" y="2267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4F3"/>
                </a:solidFill>
              </a:rPr>
              <a:t>Entscheidungsdruck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46720" y="2798064"/>
            <a:ext cx="257860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9AA7A9"/>
                </a:solidFill>
              </a:rPr>
              <a:t>Ausschuesse wollen Nutzen, Risiko, Kosten, Verantwortlichkeit und Auditierbarkeit schnell verstehen.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143000" y="5074920"/>
            <a:ext cx="9921240" cy="731520"/>
          </a:xfrm>
          <a:prstGeom prst="roundRect">
            <a:avLst>
              <a:gd name="adj" fmla="val 7500"/>
            </a:avLst>
          </a:prstGeom>
          <a:solidFill>
            <a:srgbClr val="0B1714">
              <a:alpha val="98000"/>
            </a:srgbClr>
          </a:solidFill>
          <a:ln w="15240">
            <a:solidFill>
              <a:srgbClr val="10F2A5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5193792"/>
            <a:ext cx="96469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1F4F3"/>
                </a:solidFill>
              </a:rPr>
              <a:t>These: Eine lokale, mandantenfaehige KI-Forschungsplattform kann klinisches Wissen schneller nutzbar machen - ohne Datenschutz und Governance zu opfern.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6616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4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Was NALA-DNA-Med ist - und was nicht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A9"/>
                </a:solidFill>
              </a:rPr>
              <a:t>Sauberer Scope ist wichtig, damit Aerzt:innen und Gremien Vertrauen haben.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52144"/>
            <a:ext cx="2377440" cy="0"/>
          </a:xfrm>
          <a:prstGeom prst="line">
            <a:avLst/>
          </a:prstGeom>
          <a:noFill/>
          <a:ln w="25400">
            <a:solidFill>
              <a:srgbClr val="10F2A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0C1516">
              <a:alpha val="97000"/>
            </a:srgbClr>
          </a:solidFill>
          <a:ln w="12700">
            <a:solidFill>
              <a:srgbClr val="10F2A5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91072" y="141732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161010">
              <a:alpha val="97000"/>
            </a:srgbClr>
          </a:solidFill>
          <a:ln w="12700">
            <a:solidFill>
              <a:srgbClr val="FF4D6D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F2A5"/>
                </a:solidFill>
              </a:rPr>
              <a:t>JA: Research Support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051560" y="2532888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24688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Literatur- und Paper-Triage mit Quellen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3008376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29443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Projekt-Vaults fuer Teams, Daten und Hypothesen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51560" y="3483864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34198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BioLab-Demo fuer SMILES/Proteinsequenzen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51560" y="3959352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38953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Audit-Log, Rollen, TenantShield, Backups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51560" y="4434840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43708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Vorbereitung fuer lokale Modelle wie MAMMAL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56832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4D6D"/>
                </a:solidFill>
              </a:rPr>
              <a:t>NEIN: Keine Medizinprodukt-Behauptung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702552" y="2532888"/>
            <a:ext cx="82296" cy="8229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7144" y="24688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Keine Diagnose- oder Therapieentscheidung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702552" y="3008376"/>
            <a:ext cx="82296" cy="8229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29443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Keine ungepruefte Patientenberatung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702552" y="3483864"/>
            <a:ext cx="82296" cy="8229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67144" y="341985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Kein Ersatz fuer Studien, Labor oder Review Board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702552" y="3959352"/>
            <a:ext cx="82296" cy="8229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67144" y="38953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Kein automatisches Training mit Userdaten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702552" y="4434840"/>
            <a:ext cx="82296" cy="82296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67144" y="43708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Kein Produktivbetrieb ohne Validierung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828800" y="5715000"/>
            <a:ext cx="8458200" cy="411480"/>
          </a:xfrm>
          <a:prstGeom prst="roundRect">
            <a:avLst>
              <a:gd name="adj" fmla="val 13333"/>
            </a:avLst>
          </a:prstGeom>
          <a:solidFill>
            <a:srgbClr val="0B1714">
              <a:alpha val="98000"/>
            </a:srgbClr>
          </a:solidFill>
          <a:ln w="15240">
            <a:solidFill>
              <a:srgbClr val="FFC857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65960" y="5833872"/>
            <a:ext cx="818388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1F4F3"/>
                </a:solidFill>
              </a:rPr>
              <a:t>Positionierung: lokales Forschungs-, Literatur- und Hypothesen-Werkzeug mit klaren Sicherheitsgrenzen.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6616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4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App-Erlebnis fuer medizinisches Personal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A9"/>
                </a:solidFill>
              </a:rPr>
              <a:t>Ein sicherer Arbeitsraum statt Tool-Wildwuchs.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52144"/>
            <a:ext cx="2377440" cy="0"/>
          </a:xfrm>
          <a:prstGeom prst="line">
            <a:avLst/>
          </a:prstGeom>
          <a:noFill/>
          <a:ln w="25400">
            <a:solidFill>
              <a:srgbClr val="10F2A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389888"/>
            <a:ext cx="5724144" cy="4398264"/>
          </a:xfrm>
          <a:prstGeom prst="roundRect">
            <a:avLst>
              <a:gd name="adj" fmla="val 1663"/>
            </a:avLst>
          </a:prstGeom>
          <a:solidFill>
            <a:srgbClr val="0A0E11"/>
          </a:solidFill>
          <a:ln w="15240">
            <a:solidFill>
              <a:srgbClr val="10F2A5">
                <a:alpha val="50000"/>
              </a:srgbClr>
            </a:solidFill>
            <a:prstDash val="solid"/>
          </a:ln>
        </p:spPr>
      </p:sp>
      <p:pic>
        <p:nvPicPr>
          <p:cNvPr id="6" name="Image 0" descr="/mnt/data/NALA-DNA-Med-aPP_MasterPackage/mockups/02_dashboard.png">    </p:cNvPr>
          <p:cNvPicPr>
            <a:picLocks noChangeAspect="1"/>
          </p:cNvPicPr>
          <p:nvPr/>
        </p:nvPicPr>
        <p:blipFill>
          <a:blip r:embed="rId1"/>
          <a:srcRect l="9211" r="9211" t="0" b="0"/>
          <a:stretch/>
        </p:blipFill>
        <p:spPr>
          <a:xfrm>
            <a:off x="658368" y="1417320"/>
            <a:ext cx="566928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20840" y="1508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4F3"/>
                </a:solidFill>
              </a:rPr>
              <a:t>Der Alltag fuer Aerzt:innen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784848" y="2212848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0" y="214884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Projekt oeffnen: Thema, Team, Datenraum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784848" y="2715768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265176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Papers/CSV/FASTA/SMILES hochladen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784848" y="3218688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0" y="315468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Fragen stellen: mit Quellen und Warnungen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784848" y="3721608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365760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BioLab-Dry-Run: Kandidaten priorisieren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784848" y="4224528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0" y="416052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Report exportieren fuer Ruecksprache/Gremium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629400" y="4956048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0C1516">
              <a:alpha val="97000"/>
            </a:srgbClr>
          </a:solidFill>
          <a:ln w="12700">
            <a:solidFill>
              <a:srgbClr val="10F2A5">
                <a:alpha val="4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39712" y="513892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9AA7A9"/>
                </a:solidFill>
              </a:rPr>
              <a:t>Wichtig: Keine Entscheidung ohne aerztliche Bewertung - die App strukturiert Recherche, nicht Verantwortung.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6616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4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BioLab: vom Molekuel zur Hypothese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A9"/>
                </a:solidFill>
              </a:rPr>
              <a:t>Demo-Modus heute, echte Modell-Plugins spaeter.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52144"/>
            <a:ext cx="2377440" cy="0"/>
          </a:xfrm>
          <a:prstGeom prst="line">
            <a:avLst/>
          </a:prstGeom>
          <a:noFill/>
          <a:ln w="25400">
            <a:solidFill>
              <a:srgbClr val="10F2A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61888" y="1344168"/>
            <a:ext cx="5404104" cy="4489704"/>
          </a:xfrm>
          <a:prstGeom prst="roundRect">
            <a:avLst>
              <a:gd name="adj" fmla="val 1629"/>
            </a:avLst>
          </a:prstGeom>
          <a:solidFill>
            <a:srgbClr val="0A0E11"/>
          </a:solidFill>
          <a:ln w="15240">
            <a:solidFill>
              <a:srgbClr val="10F2A5">
                <a:alpha val="50000"/>
              </a:srgbClr>
            </a:solidFill>
            <a:prstDash val="solid"/>
          </a:ln>
        </p:spPr>
      </p:sp>
      <p:pic>
        <p:nvPicPr>
          <p:cNvPr id="6" name="Image 0" descr="/mnt/data/NALA-DNA-Med-aPP_MasterPackage/mockups/03_biolab_demo.png">    </p:cNvPr>
          <p:cNvPicPr>
            <a:picLocks noChangeAspect="1"/>
          </p:cNvPicPr>
          <p:nvPr/>
        </p:nvPicPr>
        <p:blipFill>
          <a:blip r:embed="rId1"/>
          <a:srcRect l="12307" r="12307" t="0" b="0"/>
          <a:stretch/>
        </p:blipFill>
        <p:spPr>
          <a:xfrm>
            <a:off x="5989320" y="1371600"/>
            <a:ext cx="5349240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508760"/>
            <a:ext cx="4709160" cy="4160520"/>
          </a:xfrm>
          <a:prstGeom prst="roundRect">
            <a:avLst>
              <a:gd name="adj" fmla="val 1758"/>
            </a:avLst>
          </a:prstGeom>
          <a:solidFill>
            <a:srgbClr val="0B1114">
              <a:alpha val="97000"/>
            </a:srgbClr>
          </a:solidFill>
          <a:ln w="12700">
            <a:solidFill>
              <a:srgbClr val="26343A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8288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4F3"/>
                </a:solidFill>
              </a:rPr>
              <a:t>Moeglicher Workflow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87552" y="2468880"/>
            <a:ext cx="292608" cy="256032"/>
          </a:xfrm>
          <a:prstGeom prst="rect">
            <a:avLst/>
          </a:prstGeom>
          <a:solidFill>
            <a:srgbClr val="10F2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90B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17320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Target / Fragestellung definieren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2971800"/>
            <a:ext cx="292608" cy="256032"/>
          </a:xfrm>
          <a:prstGeom prst="rect">
            <a:avLst/>
          </a:prstGeom>
          <a:solidFill>
            <a:srgbClr val="10F2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90B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17320" y="2953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Papers und Sequenzen sammeln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87552" y="3474720"/>
            <a:ext cx="292608" cy="256032"/>
          </a:xfrm>
          <a:prstGeom prst="rect">
            <a:avLst/>
          </a:prstGeom>
          <a:solidFill>
            <a:srgbClr val="10F2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90B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417320" y="3456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Kandidatenlisten importieren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87552" y="3977640"/>
            <a:ext cx="292608" cy="256032"/>
          </a:xfrm>
          <a:prstGeom prst="rect">
            <a:avLst/>
          </a:prstGeom>
          <a:solidFill>
            <a:srgbClr val="10F2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90B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17320" y="3959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Screening/Ranking als Dry-Run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87552" y="4480560"/>
            <a:ext cx="292608" cy="256032"/>
          </a:xfrm>
          <a:prstGeom prst="rect">
            <a:avLst/>
          </a:prstGeom>
          <a:solidFill>
            <a:srgbClr val="10F2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90B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17320" y="4462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Quellenbasierter Report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60120" y="5138928"/>
            <a:ext cx="4160520" cy="411480"/>
          </a:xfrm>
          <a:prstGeom prst="roundRect">
            <a:avLst>
              <a:gd name="adj" fmla="val 13333"/>
            </a:avLst>
          </a:prstGeom>
          <a:solidFill>
            <a:srgbClr val="0B1714">
              <a:alpha val="98000"/>
            </a:srgbClr>
          </a:solidFill>
          <a:ln w="15240">
            <a:solidFill>
              <a:srgbClr val="10F2A5">
                <a:alpha val="7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" y="5257800"/>
            <a:ext cx="388620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1F4F3"/>
                </a:solidFill>
              </a:rPr>
              <a:t>Heute: klar markierter Demo-/Stub-Modus. Spaeter: Plug-in fuer MAMMAL, RDKit, BioPython und validierte interne Daten.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6616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4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Datenschutz: TenantShield statt Daten-Mischmasch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A9"/>
                </a:solidFill>
              </a:rPr>
              <a:t>Gemeinsame Modelle, aber getrennte Datenraeume fuer User, Teams und Projekte.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52144"/>
            <a:ext cx="2377440" cy="0"/>
          </a:xfrm>
          <a:prstGeom prst="line">
            <a:avLst/>
          </a:prstGeom>
          <a:noFill/>
          <a:ln w="25400">
            <a:solidFill>
              <a:srgbClr val="10F2A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298448"/>
            <a:ext cx="4946904" cy="3895344"/>
          </a:xfrm>
          <a:prstGeom prst="roundRect">
            <a:avLst>
              <a:gd name="adj" fmla="val 1878"/>
            </a:avLst>
          </a:prstGeom>
          <a:solidFill>
            <a:srgbClr val="0A0E11"/>
          </a:solidFill>
          <a:ln w="15240">
            <a:solidFill>
              <a:srgbClr val="10F2A5">
                <a:alpha val="50000"/>
              </a:srgbClr>
            </a:solidFill>
            <a:prstDash val="solid"/>
          </a:ln>
        </p:spPr>
      </p:sp>
      <p:pic>
        <p:nvPicPr>
          <p:cNvPr id="6" name="Image 0" descr="/mnt/data/NALA-DNA-Med-aPP_extra_mockups/04_login_tenant_shield.png">    </p:cNvPr>
          <p:cNvPicPr>
            <a:picLocks noChangeAspect="1"/>
          </p:cNvPicPr>
          <p:nvPr/>
        </p:nvPicPr>
        <p:blipFill>
          <a:blip r:embed="rId1"/>
          <a:srcRect l="10193" r="10193" t="0" b="0"/>
          <a:stretch/>
        </p:blipFill>
        <p:spPr>
          <a:xfrm>
            <a:off x="640080" y="1325880"/>
            <a:ext cx="48920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0" y="1984248"/>
            <a:ext cx="384048" cy="0"/>
          </a:xfrm>
          <a:prstGeom prst="line">
            <a:avLst/>
          </a:prstGeom>
          <a:noFill/>
          <a:ln w="12700">
            <a:solidFill>
              <a:srgbClr val="10F2A5">
                <a:alpha val="7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8549640" y="1984248"/>
            <a:ext cx="384048" cy="0"/>
          </a:xfrm>
          <a:prstGeom prst="line">
            <a:avLst/>
          </a:prstGeom>
          <a:noFill/>
          <a:ln w="12700">
            <a:solidFill>
              <a:srgbClr val="10F2A5">
                <a:alpha val="7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0241280" y="1984248"/>
            <a:ext cx="91440" cy="0"/>
          </a:xfrm>
          <a:prstGeom prst="line">
            <a:avLst/>
          </a:prstGeom>
          <a:noFill/>
          <a:ln w="12700">
            <a:solidFill>
              <a:srgbClr val="10F2A5">
                <a:alpha val="7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577840" y="1417320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0E1518">
              <a:alpha val="97000"/>
            </a:srgbClr>
          </a:solidFill>
          <a:ln w="12700">
            <a:solidFill>
              <a:srgbClr val="10F2A5">
                <a:alpha val="4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87568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4F3"/>
                </a:solidFill>
              </a:rPr>
              <a:t>User Login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69480" y="1417320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0E1518">
              <a:alpha val="97000"/>
            </a:srgbClr>
          </a:solidFill>
          <a:ln w="12700">
            <a:solidFill>
              <a:srgbClr val="10F2A5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79208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4F3"/>
                </a:solidFill>
              </a:rPr>
              <a:t>Tenant Guard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961120" y="1417320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0E1518">
              <a:alpha val="97000"/>
            </a:srgbClr>
          </a:solidFill>
          <a:ln w="12700">
            <a:solidFill>
              <a:srgbClr val="10F2A5">
                <a:alpha val="4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70848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4F3"/>
                </a:solidFill>
              </a:rPr>
              <a:t>RAG Filter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0378440" y="1417320"/>
            <a:ext cx="1234440" cy="1143000"/>
          </a:xfrm>
          <a:prstGeom prst="roundRect">
            <a:avLst>
              <a:gd name="adj" fmla="val 6400"/>
            </a:avLst>
          </a:prstGeom>
          <a:solidFill>
            <a:srgbClr val="0E1518">
              <a:alpha val="97000"/>
            </a:srgbClr>
          </a:solidFill>
          <a:ln w="12700">
            <a:solidFill>
              <a:srgbClr val="10F2A5">
                <a:alpha val="4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88168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4F3"/>
                </a:solidFill>
              </a:rPr>
              <a:t>Bio/LLM Tools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806440" y="32461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C1516">
              <a:alpha val="97000"/>
            </a:srgbClr>
          </a:solidFill>
          <a:ln w="12700">
            <a:solidFill>
              <a:srgbClr val="10F2A5">
                <a:alpha val="5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324612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0C1516">
              <a:alpha val="97000"/>
            </a:srgbClr>
          </a:solidFill>
          <a:ln w="12700">
            <a:solidFill>
              <a:srgbClr val="10F2A5">
                <a:alpha val="5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195560" y="3246120"/>
            <a:ext cx="1371600" cy="1143000"/>
          </a:xfrm>
          <a:prstGeom prst="roundRect">
            <a:avLst>
              <a:gd name="adj" fmla="val 6400"/>
            </a:avLst>
          </a:prstGeom>
          <a:solidFill>
            <a:srgbClr val="171011">
              <a:alpha val="97000"/>
            </a:srgbClr>
          </a:solidFill>
          <a:ln w="12700">
            <a:solidFill>
              <a:srgbClr val="FF4D6D">
                <a:alpha val="5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53328" y="3566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F2A5"/>
                </a:solidFill>
              </a:rPr>
              <a:t>Tenant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F2A5"/>
                </a:solidFill>
              </a:rPr>
              <a:t>Projekt Alpha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485632" y="3566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F2A5"/>
                </a:solidFill>
              </a:rPr>
              <a:t>Tenant 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F2A5"/>
                </a:solidFill>
              </a:rPr>
              <a:t>Projekt Beta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259568" y="356616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4D6D"/>
                </a:solidFill>
              </a:rPr>
              <a:t>Cross-Tenant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4D6D"/>
                </a:solidFill>
              </a:rPr>
              <a:t>BLOCK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897880" y="507492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0B1714">
              <a:alpha val="98000"/>
            </a:srgbClr>
          </a:solidFill>
          <a:ln w="15240">
            <a:solidFill>
              <a:srgbClr val="FFC857">
                <a:alpha val="7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35040" y="5193792"/>
            <a:ext cx="498348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1F4F3"/>
                </a:solidFill>
              </a:rPr>
              <a:t>Regel: Keine RAG-Suche und kein Tool-Call ohne tenant_id + project_id + Audit-Event.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6616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4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Warum das fuer ein Gremium finanzierbar 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A9"/>
                </a:solidFill>
              </a:rPr>
              <a:t>Kleiner Pilot, klares Risiko, messbare Deliverables.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52144"/>
            <a:ext cx="2377440" cy="0"/>
          </a:xfrm>
          <a:prstGeom prst="line">
            <a:avLst/>
          </a:prstGeom>
          <a:noFill/>
          <a:ln w="25400">
            <a:solidFill>
              <a:srgbClr val="10F2A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3063240" cy="4251960"/>
          </a:xfrm>
          <a:prstGeom prst="roundRect">
            <a:avLst>
              <a:gd name="adj" fmla="val 2388"/>
            </a:avLst>
          </a:prstGeom>
          <a:solidFill>
            <a:srgbClr val="0D1317">
              <a:alpha val="97000"/>
            </a:srgbClr>
          </a:solidFill>
          <a:ln w="12700">
            <a:solidFill>
              <a:srgbClr val="26343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4F3"/>
                </a:solidFill>
              </a:rPr>
              <a:t>Medizinischer Nutzen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2578608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5146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1F4F3"/>
                </a:solidFill>
              </a:rPr>
              <a:t>Schnellere Literaturarbeit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960120" y="3200400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31363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1F4F3"/>
                </a:solidFill>
              </a:rPr>
              <a:t>Nachvollziehbare Reports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960120" y="3822192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37581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1F4F3"/>
                </a:solidFill>
              </a:rPr>
              <a:t>Bessere Hypothesen vor teuren Schritten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4251960" y="1463040"/>
            <a:ext cx="3063240" cy="4251960"/>
          </a:xfrm>
          <a:prstGeom prst="roundRect">
            <a:avLst>
              <a:gd name="adj" fmla="val 2388"/>
            </a:avLst>
          </a:prstGeom>
          <a:solidFill>
            <a:srgbClr val="0D1317">
              <a:alpha val="97000"/>
            </a:srgbClr>
          </a:solidFill>
          <a:ln w="12700">
            <a:solidFill>
              <a:srgbClr val="26343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783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4F3"/>
                </a:solidFill>
              </a:rPr>
              <a:t>IT-/Datenschutz-Nutzen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26280" y="2578608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25146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1F4F3"/>
                </a:solidFill>
              </a:rPr>
              <a:t>Local-first statt Public Cloud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4526280" y="3200400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31363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1F4F3"/>
                </a:solidFill>
              </a:rPr>
              <a:t>Mandantenfaehigkeit ab Tag 1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4526280" y="3822192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872" y="37581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1F4F3"/>
                </a:solidFill>
              </a:rPr>
              <a:t>Audit, Backup und Rollenmodell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7818120" y="1463040"/>
            <a:ext cx="3063240" cy="4251960"/>
          </a:xfrm>
          <a:prstGeom prst="roundRect">
            <a:avLst>
              <a:gd name="adj" fmla="val 2388"/>
            </a:avLst>
          </a:prstGeom>
          <a:solidFill>
            <a:srgbClr val="0D1317">
              <a:alpha val="97000"/>
            </a:srgbClr>
          </a:solidFill>
          <a:ln w="12700">
            <a:solidFill>
              <a:srgbClr val="26343A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1783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4F3"/>
                </a:solidFill>
              </a:rPr>
              <a:t>Finanzierungslogik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092440" y="2578608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57032" y="25146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1F4F3"/>
                </a:solidFill>
              </a:rPr>
              <a:t>Pilot statt Grossprojekt</a:t>
            </a:r>
            <a:endParaRPr lang="en-US" sz="1260" dirty="0"/>
          </a:p>
        </p:txBody>
      </p:sp>
      <p:sp>
        <p:nvSpPr>
          <p:cNvPr id="25" name="Shape 23"/>
          <p:cNvSpPr/>
          <p:nvPr/>
        </p:nvSpPr>
        <p:spPr>
          <a:xfrm>
            <a:off x="8092440" y="3200400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57032" y="31363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1F4F3"/>
                </a:solidFill>
              </a:rPr>
              <a:t>Demo mit echten Screens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8092440" y="3822192"/>
            <a:ext cx="82296" cy="82296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57032" y="37581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1F4F3"/>
                </a:solidFill>
              </a:rPr>
              <a:t>Ausbau nur nach Review-Gates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1051560" y="5715000"/>
            <a:ext cx="9966960" cy="502920"/>
          </a:xfrm>
          <a:prstGeom prst="roundRect">
            <a:avLst>
              <a:gd name="adj" fmla="val 10909"/>
            </a:avLst>
          </a:prstGeom>
          <a:solidFill>
            <a:srgbClr val="0B1714">
              <a:alpha val="98000"/>
            </a:srgbClr>
          </a:solidFill>
          <a:ln w="15240">
            <a:solidFill>
              <a:srgbClr val="10F2A5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5833872"/>
            <a:ext cx="969264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1F4F3"/>
                </a:solidFill>
              </a:rPr>
              <a:t>Entscheidungsfrage fuer heute: Duerfen wir einen 4-8 Wochen Pilot definieren, der Sicherheit, Nutzen und Machbarkeit zeigt?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6616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4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Pilot-Roadmap: vom Demo-Repo zum Klinik-tauglichen Prototyp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A9"/>
                </a:solidFill>
              </a:rPr>
              <a:t>Scope begrenzen, Sicherheit zuerst, danach fachliche Validierung.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52144"/>
            <a:ext cx="2377440" cy="0"/>
          </a:xfrm>
          <a:prstGeom prst="line">
            <a:avLst/>
          </a:prstGeom>
          <a:noFill/>
          <a:ln w="25400">
            <a:solidFill>
              <a:srgbClr val="10F2A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2763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0B"/>
                </a:solidFill>
              </a:rPr>
              <a:t>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24128" y="2039112"/>
            <a:ext cx="0" cy="310896"/>
          </a:xfrm>
          <a:prstGeom prst="line">
            <a:avLst/>
          </a:prstGeom>
          <a:noFill/>
          <a:ln w="25400">
            <a:solidFill>
              <a:srgbClr val="2634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417320"/>
            <a:ext cx="9921240" cy="685800"/>
          </a:xfrm>
          <a:prstGeom prst="roundRect">
            <a:avLst>
              <a:gd name="adj" fmla="val 10667"/>
            </a:avLst>
          </a:prstGeom>
          <a:solidFill>
            <a:srgbClr val="0E1518">
              <a:alpha val="97000"/>
            </a:srgbClr>
          </a:solidFill>
          <a:ln w="12700">
            <a:solidFill>
              <a:srgbClr val="26343A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5648" y="1572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F2A5"/>
                </a:solidFill>
              </a:rPr>
              <a:t>Heute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5727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Arzt-/Gremium-Pitch, Feedback, klinische Use Cases sammeln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9631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0B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24128" y="2907792"/>
            <a:ext cx="0" cy="310896"/>
          </a:xfrm>
          <a:prstGeom prst="line">
            <a:avLst/>
          </a:prstGeom>
          <a:noFill/>
          <a:ln w="25400">
            <a:solidFill>
              <a:srgbClr val="2634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8760" y="2286000"/>
            <a:ext cx="9921240" cy="685800"/>
          </a:xfrm>
          <a:prstGeom prst="roundRect">
            <a:avLst>
              <a:gd name="adj" fmla="val 10667"/>
            </a:avLst>
          </a:prstGeom>
          <a:solidFill>
            <a:srgbClr val="0E1518">
              <a:alpha val="97000"/>
            </a:srgbClr>
          </a:solidFill>
          <a:ln w="12700">
            <a:solidFill>
              <a:srgbClr val="26343A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24414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F2A5"/>
                </a:solidFill>
              </a:rPr>
              <a:t>Woche 1-2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4414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Repo MVP: Local Lite Mode, Doctor-Screen, TenantShield-Datenmodell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3246120"/>
            <a:ext cx="502920" cy="502920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3649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0B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24128" y="3776472"/>
            <a:ext cx="0" cy="310896"/>
          </a:xfrm>
          <a:prstGeom prst="line">
            <a:avLst/>
          </a:prstGeom>
          <a:noFill/>
          <a:ln w="25400">
            <a:solidFill>
              <a:srgbClr val="2634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08760" y="3154680"/>
            <a:ext cx="9921240" cy="685800"/>
          </a:xfrm>
          <a:prstGeom prst="roundRect">
            <a:avLst>
              <a:gd name="adj" fmla="val 10667"/>
            </a:avLst>
          </a:prstGeom>
          <a:solidFill>
            <a:srgbClr val="0E1518">
              <a:alpha val="97000"/>
            </a:srgbClr>
          </a:solidFill>
          <a:ln w="12700">
            <a:solidFill>
              <a:srgbClr val="26343A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55648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F2A5"/>
                </a:solidFill>
              </a:rPr>
              <a:t>Woche 3-4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46120" y="33101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OrbStack Core Mode, Upload Vault, Audit, Backup/Restore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2336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0B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24128" y="4645152"/>
            <a:ext cx="0" cy="310896"/>
          </a:xfrm>
          <a:prstGeom prst="line">
            <a:avLst/>
          </a:prstGeom>
          <a:noFill/>
          <a:ln w="25400">
            <a:solidFill>
              <a:srgbClr val="2634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08760" y="4023360"/>
            <a:ext cx="9921240" cy="685800"/>
          </a:xfrm>
          <a:prstGeom prst="roundRect">
            <a:avLst>
              <a:gd name="adj" fmla="val 10667"/>
            </a:avLst>
          </a:prstGeom>
          <a:solidFill>
            <a:srgbClr val="0E1518">
              <a:alpha val="97000"/>
            </a:srgbClr>
          </a:solidFill>
          <a:ln w="12700">
            <a:solidFill>
              <a:srgbClr val="26343A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55648" y="4178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F2A5"/>
                </a:solidFill>
              </a:rPr>
              <a:t>Woche 5-6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46120" y="41788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BioLab Stub + MAMMAL/RDKit Integrationsplan, Tests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77240" y="4983480"/>
            <a:ext cx="502920" cy="502920"/>
          </a:xfrm>
          <a:prstGeom prst="ellipse">
            <a:avLst/>
          </a:prstGeom>
          <a:solidFill>
            <a:srgbClr val="10F2A5"/>
          </a:solidFill>
          <a:ln w="12700">
            <a:solidFill>
              <a:srgbClr val="10F2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10235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0B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508760" y="4892040"/>
            <a:ext cx="9921240" cy="685800"/>
          </a:xfrm>
          <a:prstGeom prst="roundRect">
            <a:avLst>
              <a:gd name="adj" fmla="val 10667"/>
            </a:avLst>
          </a:prstGeom>
          <a:solidFill>
            <a:srgbClr val="0E1518">
              <a:alpha val="97000"/>
            </a:srgbClr>
          </a:solidFill>
          <a:ln w="12700">
            <a:solidFill>
              <a:srgbClr val="26343A">
                <a:alpha val="6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55648" y="5047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F2A5"/>
                </a:solidFill>
              </a:rPr>
              <a:t>Woche 7-8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46120" y="50474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1F4F3"/>
                </a:solidFill>
              </a:rPr>
              <a:t>Pilot-Report: Nutzen, Risiken, Aufwand, Go/No-Go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6616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4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Betriebsmodell: MacBook heute, NALA-cORe morgen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A9"/>
                </a:solidFill>
              </a:rPr>
              <a:t>Einfach starten - spaeter skalieren.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52144"/>
            <a:ext cx="2377440" cy="0"/>
          </a:xfrm>
          <a:prstGeom prst="line">
            <a:avLst/>
          </a:prstGeom>
          <a:noFill/>
          <a:ln w="25400">
            <a:solidFill>
              <a:srgbClr val="10F2A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64808" y="1207008"/>
            <a:ext cx="4718304" cy="3895344"/>
          </a:xfrm>
          <a:prstGeom prst="roundRect">
            <a:avLst>
              <a:gd name="adj" fmla="val 1878"/>
            </a:avLst>
          </a:prstGeom>
          <a:solidFill>
            <a:srgbClr val="0A0E11"/>
          </a:solidFill>
          <a:ln w="15240">
            <a:solidFill>
              <a:srgbClr val="10F2A5">
                <a:alpha val="50000"/>
              </a:srgbClr>
            </a:solidFill>
            <a:prstDash val="solid"/>
          </a:ln>
        </p:spPr>
      </p:sp>
      <p:pic>
        <p:nvPicPr>
          <p:cNvPr id="6" name="Image 0" descr="/mnt/data/NALA-DNA-Med-aPP_extra_mockups/08_settings_backup_runtime.png">    </p:cNvPr>
          <p:cNvPicPr>
            <a:picLocks noChangeAspect="1"/>
          </p:cNvPicPr>
          <p:nvPr/>
        </p:nvPicPr>
        <p:blipFill>
          <a:blip r:embed="rId1"/>
          <a:srcRect l="12054" r="12054" t="0" b="0"/>
          <a:stretch/>
        </p:blipFill>
        <p:spPr>
          <a:xfrm>
            <a:off x="6492240" y="1234440"/>
            <a:ext cx="46634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41732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0B1114">
              <a:alpha val="97000"/>
            </a:srgbClr>
          </a:solidFill>
          <a:ln w="12700">
            <a:solidFill>
              <a:srgbClr val="26343A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4F3"/>
                </a:solidFill>
              </a:rPr>
              <a:t>3 Modi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4128" y="2331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F2A5"/>
                </a:solidFill>
              </a:rPr>
              <a:t>1. Local Lite Mode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24128" y="2587752"/>
            <a:ext cx="42976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9AA7A9"/>
                </a:solidFill>
              </a:rPr>
              <a:t>Direkt auf dem MacBook Pro fuer Demo, UI, Projektstruktur und leichte Analysen.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1024128" y="3246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F2A5"/>
                </a:solidFill>
              </a:rPr>
              <a:t>2. OrbStack Core Mode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4128" y="3502152"/>
            <a:ext cx="42976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9AA7A9"/>
                </a:solidFill>
              </a:rPr>
              <a:t>Lokale Container fuer API, Postgres, Qdrant, MinIO, Redis und BioModel-Service.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1024128" y="4160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F2A5"/>
                </a:solidFill>
              </a:rPr>
              <a:t>3. Server / Proxmox Mode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4128" y="4416552"/>
            <a:ext cx="42976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9AA7A9"/>
                </a:solidFill>
              </a:rPr>
              <a:t>Spaeter fuer Teams, GPU-Jobs, Backups und kontrollierten externen Zugriff.</a:t>
            </a:r>
            <a:endParaRPr lang="en-US" sz="1240" dirty="0"/>
          </a:p>
        </p:txBody>
      </p:sp>
      <p:sp>
        <p:nvSpPr>
          <p:cNvPr id="15" name="Shape 12"/>
          <p:cNvSpPr/>
          <p:nvPr/>
        </p:nvSpPr>
        <p:spPr>
          <a:xfrm>
            <a:off x="1005840" y="5074920"/>
            <a:ext cx="4480560" cy="411480"/>
          </a:xfrm>
          <a:prstGeom prst="roundRect">
            <a:avLst>
              <a:gd name="adj" fmla="val 13333"/>
            </a:avLst>
          </a:prstGeom>
          <a:solidFill>
            <a:srgbClr val="0B1714">
              <a:alpha val="98000"/>
            </a:srgbClr>
          </a:solidFill>
          <a:ln w="15240">
            <a:solidFill>
              <a:srgbClr val="10F2A5">
                <a:alpha val="7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5193792"/>
            <a:ext cx="420624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1F4F3"/>
                </a:solidFill>
              </a:rPr>
              <a:t>Prinzip: gleiche App, gleicher Datenschutz - nur die Rechenleistung waechst.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6616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4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Governance: Sicherheitsgeländer fuer Medizin und 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A9"/>
                </a:solidFill>
              </a:rPr>
              <a:t>Damit der Pilot nicht als ungepruefter “KI-Arzt” missverstanden wird.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52144"/>
            <a:ext cx="2377440" cy="0"/>
          </a:xfrm>
          <a:prstGeom prst="line">
            <a:avLst/>
          </a:prstGeom>
          <a:noFill/>
          <a:ln w="25400">
            <a:solidFill>
              <a:srgbClr val="10F2A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0D1317">
              <a:alpha val="97000"/>
            </a:srgbClr>
          </a:solidFill>
          <a:ln w="12700">
            <a:solidFill>
              <a:srgbClr val="26343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F2A5"/>
                </a:solidFill>
              </a:rPr>
              <a:t>Safety Rules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024128" y="2487168"/>
            <a:ext cx="82296" cy="822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4231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1F4F3"/>
                </a:solidFill>
              </a:rPr>
              <a:t>Keine medizinische Entscheidung ohne Fachperson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1024128" y="3035808"/>
            <a:ext cx="82296" cy="822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9718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1F4F3"/>
                </a:solidFill>
              </a:rPr>
              <a:t>Kein Patientendaten-Upload im MVP ohne Freigabe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1024128" y="3584448"/>
            <a:ext cx="82296" cy="822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5204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1F4F3"/>
                </a:solidFill>
              </a:rPr>
              <a:t>Jeder Tool-Call mit Audit-Log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1024128" y="4133088"/>
            <a:ext cx="82296" cy="822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0690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1F4F3"/>
                </a:solidFill>
              </a:rPr>
              <a:t>Jeder Export mit Quellen und Warnhinweis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024128" y="4681728"/>
            <a:ext cx="82296" cy="8229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6177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1F4F3"/>
                </a:solidFill>
              </a:rPr>
              <a:t>Kein Training mit Userdaten ohne explizite Zustimmung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6263640" y="1463040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0D1317">
              <a:alpha val="97000"/>
            </a:srgbClr>
          </a:solidFill>
          <a:ln w="12700">
            <a:solidFill>
              <a:srgbClr val="26343A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1F4F3"/>
                </a:solidFill>
              </a:rPr>
              <a:t>Erfolgsmessung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492240" y="24871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F2A5"/>
                </a:solidFill>
              </a:rPr>
              <a:t>&lt; 10 min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92240" y="2990088"/>
            <a:ext cx="1463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A9"/>
                </a:solidFill>
              </a:rPr>
              <a:t>eine Fragestellung strukturiert vorbereiten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24871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F2A5"/>
                </a:solidFill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229600" y="2990088"/>
            <a:ext cx="1463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A9"/>
                </a:solidFill>
              </a:rPr>
              <a:t>Reports mit Quellen + Audit-Hinweis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66960" y="2487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F2A5"/>
                </a:solidFill>
              </a:rPr>
              <a:t>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966960" y="2990088"/>
            <a:ext cx="1188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A9"/>
                </a:solidFill>
              </a:rPr>
              <a:t>Cross-Tenant Datenlecks toleriert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29400" y="4800600"/>
            <a:ext cx="4434840" cy="548640"/>
          </a:xfrm>
          <a:prstGeom prst="roundRect">
            <a:avLst>
              <a:gd name="adj" fmla="val 10000"/>
            </a:avLst>
          </a:prstGeom>
          <a:solidFill>
            <a:srgbClr val="0B1714">
              <a:alpha val="98000"/>
            </a:srgbClr>
          </a:solidFill>
          <a:ln w="15240">
            <a:solidFill>
              <a:srgbClr val="10F2A5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4919472"/>
            <a:ext cx="4160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1F4F3"/>
                </a:solidFill>
              </a:rPr>
              <a:t>Go/No-Go nach Pilot: nur weiter, wenn Fachnutzen, Datenschutz und Betrieb gemeinsam plausibel sind.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6616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4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Screenshots: was heute schon zeigbar 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A9"/>
                </a:solidFill>
              </a:rPr>
              <a:t>Mockups fuer App-Fluss, Datenschutz, Upload, Jobs und Graph-Ansicht.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52144"/>
            <a:ext cx="2377440" cy="0"/>
          </a:xfrm>
          <a:prstGeom prst="line">
            <a:avLst/>
          </a:prstGeom>
          <a:noFill/>
          <a:ln w="25400">
            <a:solidFill>
              <a:srgbClr val="10F2A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3209544" cy="2020824"/>
          </a:xfrm>
          <a:prstGeom prst="roundRect">
            <a:avLst>
              <a:gd name="adj" fmla="val 3620"/>
            </a:avLst>
          </a:prstGeom>
          <a:solidFill>
            <a:srgbClr val="0A0E11"/>
          </a:solidFill>
          <a:ln w="15240">
            <a:solidFill>
              <a:srgbClr val="10F2A5">
                <a:alpha val="50000"/>
              </a:srgbClr>
            </a:solidFill>
            <a:prstDash val="solid"/>
          </a:ln>
        </p:spPr>
      </p:sp>
      <p:pic>
        <p:nvPicPr>
          <p:cNvPr id="6" name="Image 0" descr="/mnt/data/NALA-DNA-Med-aPP_MasterPackage/mockups/01_system_check.png">    </p:cNvPr>
          <p:cNvPicPr>
            <a:picLocks noChangeAspect="1"/>
          </p:cNvPicPr>
          <p:nvPr/>
        </p:nvPicPr>
        <p:blipFill>
          <a:blip r:embed="rId1"/>
          <a:srcRect l="0" r="0" t="145" b="145"/>
          <a:stretch/>
        </p:blipFill>
        <p:spPr>
          <a:xfrm>
            <a:off x="685800" y="1325880"/>
            <a:ext cx="3154680" cy="1965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558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F2A5"/>
                </a:solidFill>
              </a:rPr>
              <a:t>System Check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4453128" y="1298448"/>
            <a:ext cx="3209544" cy="2020824"/>
          </a:xfrm>
          <a:prstGeom prst="roundRect">
            <a:avLst>
              <a:gd name="adj" fmla="val 3620"/>
            </a:avLst>
          </a:prstGeom>
          <a:solidFill>
            <a:srgbClr val="0A0E11"/>
          </a:solidFill>
          <a:ln w="15240">
            <a:solidFill>
              <a:srgbClr val="10F2A5">
                <a:alpha val="50000"/>
              </a:srgbClr>
            </a:solidFill>
            <a:prstDash val="solid"/>
          </a:ln>
        </p:spPr>
      </p:sp>
      <p:pic>
        <p:nvPicPr>
          <p:cNvPr id="9" name="Image 1" descr="/mnt/data/NALA-DNA-Med-aPP_extra_mockups/05_projects_vaults.png">    </p:cNvPr>
          <p:cNvPicPr>
            <a:picLocks noChangeAspect="1"/>
          </p:cNvPicPr>
          <p:nvPr/>
        </p:nvPicPr>
        <p:blipFill>
          <a:blip r:embed="rId2"/>
          <a:srcRect l="0" r="0" t="145" b="145"/>
          <a:stretch/>
        </p:blipFill>
        <p:spPr>
          <a:xfrm>
            <a:off x="4480560" y="1325880"/>
            <a:ext cx="3154680" cy="1965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26280" y="33558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F2A5"/>
                </a:solidFill>
              </a:rPr>
              <a:t>Projects / Vaults</a:t>
            </a:r>
            <a:endParaRPr lang="en-US" sz="880" dirty="0"/>
          </a:p>
        </p:txBody>
      </p:sp>
      <p:sp>
        <p:nvSpPr>
          <p:cNvPr id="11" name="Shape 7"/>
          <p:cNvSpPr/>
          <p:nvPr/>
        </p:nvSpPr>
        <p:spPr>
          <a:xfrm>
            <a:off x="8247888" y="1298448"/>
            <a:ext cx="3209544" cy="2020824"/>
          </a:xfrm>
          <a:prstGeom prst="roundRect">
            <a:avLst>
              <a:gd name="adj" fmla="val 3620"/>
            </a:avLst>
          </a:prstGeom>
          <a:solidFill>
            <a:srgbClr val="0A0E11"/>
          </a:solidFill>
          <a:ln w="15240">
            <a:solidFill>
              <a:srgbClr val="10F2A5">
                <a:alpha val="50000"/>
              </a:srgbClr>
            </a:solidFill>
            <a:prstDash val="solid"/>
          </a:ln>
        </p:spPr>
      </p:sp>
      <p:pic>
        <p:nvPicPr>
          <p:cNvPr id="12" name="Image 2" descr="/mnt/data/NALA-DNA-Med-aPP_extra_mockups/06_upload_center.png">    </p:cNvPr>
          <p:cNvPicPr>
            <a:picLocks noChangeAspect="1"/>
          </p:cNvPicPr>
          <p:nvPr/>
        </p:nvPicPr>
        <p:blipFill>
          <a:blip r:embed="rId3"/>
          <a:srcRect l="0" r="0" t="145" b="145"/>
          <a:stretch/>
        </p:blipFill>
        <p:spPr>
          <a:xfrm>
            <a:off x="8275320" y="1325880"/>
            <a:ext cx="3154680" cy="19659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21040" y="33558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F2A5"/>
                </a:solidFill>
              </a:rPr>
              <a:t>Upload Center</a:t>
            </a:r>
            <a:endParaRPr lang="en-US" sz="880" dirty="0"/>
          </a:p>
        </p:txBody>
      </p:sp>
      <p:sp>
        <p:nvSpPr>
          <p:cNvPr id="14" name="Shape 9"/>
          <p:cNvSpPr/>
          <p:nvPr/>
        </p:nvSpPr>
        <p:spPr>
          <a:xfrm>
            <a:off x="658368" y="3675888"/>
            <a:ext cx="3209544" cy="2020824"/>
          </a:xfrm>
          <a:prstGeom prst="roundRect">
            <a:avLst>
              <a:gd name="adj" fmla="val 3620"/>
            </a:avLst>
          </a:prstGeom>
          <a:solidFill>
            <a:srgbClr val="0A0E11"/>
          </a:solidFill>
          <a:ln w="15240">
            <a:solidFill>
              <a:srgbClr val="10F2A5">
                <a:alpha val="50000"/>
              </a:srgbClr>
            </a:solidFill>
            <a:prstDash val="solid"/>
          </a:ln>
        </p:spPr>
      </p:sp>
      <p:pic>
        <p:nvPicPr>
          <p:cNvPr id="15" name="Image 3" descr="/mnt/data/NALA-DNA-Med-aPP_extra_mockups/07_jobs_audit.png">    </p:cNvPr>
          <p:cNvPicPr>
            <a:picLocks noChangeAspect="1"/>
          </p:cNvPicPr>
          <p:nvPr/>
        </p:nvPicPr>
        <p:blipFill>
          <a:blip r:embed="rId4"/>
          <a:srcRect l="0" r="0" t="145" b="145"/>
          <a:stretch/>
        </p:blipFill>
        <p:spPr>
          <a:xfrm>
            <a:off x="685800" y="3703320"/>
            <a:ext cx="3154680" cy="19659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1520" y="57332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F2A5"/>
                </a:solidFill>
              </a:rPr>
              <a:t>Jobs / Audit</a:t>
            </a:r>
            <a:endParaRPr lang="en-US" sz="880" dirty="0"/>
          </a:p>
        </p:txBody>
      </p:sp>
      <p:sp>
        <p:nvSpPr>
          <p:cNvPr id="17" name="Shape 11"/>
          <p:cNvSpPr/>
          <p:nvPr/>
        </p:nvSpPr>
        <p:spPr>
          <a:xfrm>
            <a:off x="4453128" y="3675888"/>
            <a:ext cx="3209544" cy="2020824"/>
          </a:xfrm>
          <a:prstGeom prst="roundRect">
            <a:avLst>
              <a:gd name="adj" fmla="val 3620"/>
            </a:avLst>
          </a:prstGeom>
          <a:solidFill>
            <a:srgbClr val="0A0E11"/>
          </a:solidFill>
          <a:ln w="15240">
            <a:solidFill>
              <a:srgbClr val="10F2A5">
                <a:alpha val="50000"/>
              </a:srgbClr>
            </a:solidFill>
            <a:prstDash val="solid"/>
          </a:ln>
        </p:spPr>
      </p:sp>
      <p:pic>
        <p:nvPicPr>
          <p:cNvPr id="18" name="Image 4" descr="/mnt/data/NALA-DNA-Med-aPP_extra_mockups/09_biolab_graph_view.png">    </p:cNvPr>
          <p:cNvPicPr>
            <a:picLocks noChangeAspect="1"/>
          </p:cNvPicPr>
          <p:nvPr/>
        </p:nvPicPr>
        <p:blipFill>
          <a:blip r:embed="rId5"/>
          <a:srcRect l="0" r="0" t="145" b="145"/>
          <a:stretch/>
        </p:blipFill>
        <p:spPr>
          <a:xfrm>
            <a:off x="4480560" y="3703320"/>
            <a:ext cx="3154680" cy="19659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26280" y="57332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F2A5"/>
                </a:solidFill>
              </a:rPr>
              <a:t>BioLab Graph</a:t>
            </a:r>
            <a:endParaRPr lang="en-US" sz="880" dirty="0"/>
          </a:p>
        </p:txBody>
      </p:sp>
      <p:sp>
        <p:nvSpPr>
          <p:cNvPr id="20" name="Shape 13"/>
          <p:cNvSpPr/>
          <p:nvPr/>
        </p:nvSpPr>
        <p:spPr>
          <a:xfrm>
            <a:off x="8247888" y="3675888"/>
            <a:ext cx="3209544" cy="2020824"/>
          </a:xfrm>
          <a:prstGeom prst="roundRect">
            <a:avLst>
              <a:gd name="adj" fmla="val 3620"/>
            </a:avLst>
          </a:prstGeom>
          <a:solidFill>
            <a:srgbClr val="0A0E11"/>
          </a:solidFill>
          <a:ln w="15240">
            <a:solidFill>
              <a:srgbClr val="10F2A5">
                <a:alpha val="50000"/>
              </a:srgbClr>
            </a:solidFill>
            <a:prstDash val="solid"/>
          </a:ln>
        </p:spPr>
      </p:sp>
      <p:pic>
        <p:nvPicPr>
          <p:cNvPr id="21" name="Image 5" descr="/mnt/data/NALA-DNA-Med-aPP_extra_mockups/08_settings_backup_runtime.png">    </p:cNvPr>
          <p:cNvPicPr>
            <a:picLocks noChangeAspect="1"/>
          </p:cNvPicPr>
          <p:nvPr/>
        </p:nvPicPr>
        <p:blipFill>
          <a:blip r:embed="rId6"/>
          <a:srcRect l="0" r="0" t="145" b="145"/>
          <a:stretch/>
        </p:blipFill>
        <p:spPr>
          <a:xfrm>
            <a:off x="8275320" y="3703320"/>
            <a:ext cx="3154680" cy="19659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321040" y="57332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F2A5"/>
                </a:solidFill>
              </a:rPr>
              <a:t>Settings / Backup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6616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4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 konkrete Ask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A9"/>
                </a:solidFill>
              </a:rPr>
              <a:t>Was ich heute vom Arzt / Gremium brauche.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52144"/>
            <a:ext cx="2377440" cy="0"/>
          </a:xfrm>
          <a:prstGeom prst="line">
            <a:avLst/>
          </a:prstGeom>
          <a:noFill/>
          <a:ln w="25400">
            <a:solidFill>
              <a:srgbClr val="10F2A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63040"/>
            <a:ext cx="3108960" cy="3383280"/>
          </a:xfrm>
          <a:prstGeom prst="roundRect">
            <a:avLst>
              <a:gd name="adj" fmla="val 2353"/>
            </a:avLst>
          </a:prstGeom>
          <a:solidFill>
            <a:srgbClr val="0C1516">
              <a:alpha val="97000"/>
            </a:srgbClr>
          </a:solidFill>
          <a:ln w="12700">
            <a:solidFill>
              <a:srgbClr val="10F2A5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6280" y="1463040"/>
            <a:ext cx="3108960" cy="3383280"/>
          </a:xfrm>
          <a:prstGeom prst="roundRect">
            <a:avLst>
              <a:gd name="adj" fmla="val 2353"/>
            </a:avLst>
          </a:prstGeom>
          <a:solidFill>
            <a:srgbClr val="0D1317">
              <a:alpha val="97000"/>
            </a:srgbClr>
          </a:solidFill>
          <a:ln w="12700">
            <a:solidFill>
              <a:srgbClr val="26343A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1463040"/>
            <a:ext cx="3108960" cy="3383280"/>
          </a:xfrm>
          <a:prstGeom prst="roundRect">
            <a:avLst>
              <a:gd name="adj" fmla="val 2353"/>
            </a:avLst>
          </a:prstGeom>
          <a:solidFill>
            <a:srgbClr val="0D1317">
              <a:alpha val="97000"/>
            </a:srgbClr>
          </a:solidFill>
          <a:ln w="12700">
            <a:solidFill>
              <a:srgbClr val="26343A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F2A5"/>
                </a:solidFill>
              </a:rPr>
              <a:t>1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4F3"/>
                </a:solidFill>
              </a:rPr>
              <a:t>Use Case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2880360"/>
            <a:ext cx="2468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9AA7A9"/>
                </a:solidFill>
              </a:rPr>
              <a:t>Eine reale, harmlose Forschungsfrage definieren: Paper-Sammlung, Target, Molekuel-/Gen-Kontext.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480060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F2A5"/>
                </a:solidFill>
              </a:rPr>
              <a:t>2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480060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4F3"/>
                </a:solidFill>
              </a:rPr>
              <a:t>Pilot-Freigabe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00600" y="2880360"/>
            <a:ext cx="2468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9AA7A9"/>
                </a:solidFill>
              </a:rPr>
              <a:t>Kleiner Pilot mit klarer Grenze: keine Diagnostik, kein Patientendatenbetrieb, nur Research Demo.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845820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F2A5"/>
                </a:solidFill>
              </a:rPr>
              <a:t>3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845820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4F3"/>
                </a:solidFill>
              </a:rPr>
              <a:t>Review-Termin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58200" y="2880360"/>
            <a:ext cx="2468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9AA7A9"/>
                </a:solidFill>
              </a:rPr>
              <a:t>Nach 4-8 Wochen: Live-Demo, Sicherheitsbericht, Nutzenbewertung, Go/No-Go fuer Ausbau.</a:t>
            </a:r>
            <a:endParaRPr lang="en-US" sz="1330" dirty="0"/>
          </a:p>
        </p:txBody>
      </p:sp>
      <p:sp>
        <p:nvSpPr>
          <p:cNvPr id="17" name="Shape 15"/>
          <p:cNvSpPr/>
          <p:nvPr/>
        </p:nvSpPr>
        <p:spPr>
          <a:xfrm>
            <a:off x="1234440" y="5440680"/>
            <a:ext cx="9784080" cy="548640"/>
          </a:xfrm>
          <a:prstGeom prst="roundRect">
            <a:avLst>
              <a:gd name="adj" fmla="val 10000"/>
            </a:avLst>
          </a:prstGeom>
          <a:solidFill>
            <a:srgbClr val="0B1714">
              <a:alpha val="98000"/>
            </a:srgbClr>
          </a:solidFill>
          <a:ln w="15240">
            <a:solidFill>
              <a:srgbClr val="10F2A5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5559552"/>
            <a:ext cx="95097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1F4F3"/>
                </a:solidFill>
              </a:rPr>
              <a:t>Ein Satz fuer heute: “Wir finanzieren nicht Magie - wir testen kontrolliert, ob lokale KI die medizinische Forschungsarbeit sicherer und schneller macht.”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6616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4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60-Sekunden-Sprechtext fuer den Arzt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A9"/>
                </a:solidFill>
              </a:rPr>
              <a:t>Kurz, ehrlich und nicht ueberverkauft.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52144"/>
            <a:ext cx="2377440" cy="0"/>
          </a:xfrm>
          <a:prstGeom prst="line">
            <a:avLst/>
          </a:prstGeom>
          <a:noFill/>
          <a:ln w="25400">
            <a:solidFill>
              <a:srgbClr val="10F2A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508760"/>
            <a:ext cx="10241280" cy="4114800"/>
          </a:xfrm>
          <a:prstGeom prst="roundRect">
            <a:avLst>
              <a:gd name="adj" fmla="val 1778"/>
            </a:avLst>
          </a:prstGeom>
          <a:solidFill>
            <a:srgbClr val="0B1114">
              <a:alpha val="97000"/>
            </a:srgbClr>
          </a:solidFill>
          <a:ln w="12700">
            <a:solidFill>
              <a:srgbClr val="10F2A5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965960"/>
            <a:ext cx="923544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1F4F3"/>
                </a:solidFill>
              </a:rPr>
              <a:t>“Ich moechte eine lokale, datengeschuetzte KI-App bauen, die medizinisches Personal bei Recherche, Projektstrukturierung und Hypothesenbildung unterstuetzt. Sie soll nicht diagnostizieren und keine Therapie empfehlen. Der Mehrwert ist: Papers, Molekuel-/DNA-/Protein-Daten und Projektentscheidungen bleiben lokal, getrennt nach Usern und Projekten, mit Audit-Log und klaren Warnhinweisen. Mein Wunsch waere ein kleiner Pilot mit einem ungefaehrlichen Forschungs-Use-Case, damit wir Nutzen, Datenschutz und Machbarkeit objektiv pruefen koennen.”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17320" y="4434840"/>
            <a:ext cx="8961120" cy="0"/>
          </a:xfrm>
          <a:prstGeom prst="line">
            <a:avLst/>
          </a:prstGeom>
          <a:noFill/>
          <a:ln w="12700">
            <a:solidFill>
              <a:srgbClr val="263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470916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C857"/>
                </a:solidFill>
              </a:rPr>
              <a:t>Nicht sagen: “Die App findet Medikamente.”  |  Besser sagen: “Die App hilft, Forschungsfragen und Kandidaten systematisch zu priorisieren.”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6616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4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Quellen &amp; technische Grundlage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A9"/>
                </a:solidFill>
              </a:rPr>
              <a:t>Ausgewaehlte Referenzen fuer das Konzept.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52144"/>
            <a:ext cx="2377440" cy="0"/>
          </a:xfrm>
          <a:prstGeom prst="line">
            <a:avLst/>
          </a:prstGeom>
          <a:noFill/>
          <a:ln w="25400">
            <a:solidFill>
              <a:srgbClr val="10F2A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10835640" cy="4526280"/>
          </a:xfrm>
          <a:prstGeom prst="roundRect">
            <a:avLst>
              <a:gd name="adj" fmla="val 1616"/>
            </a:avLst>
          </a:prstGeom>
          <a:solidFill>
            <a:srgbClr val="0B1114">
              <a:alpha val="97000"/>
            </a:srgbClr>
          </a:solidFill>
          <a:ln w="12700">
            <a:solidFill>
              <a:srgbClr val="26343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691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F2A5"/>
                </a:solidFill>
              </a:rPr>
              <a:t>IBM / MAMMAL biomedical model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34840" y="1691640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7A9"/>
                </a:solidFill>
              </a:rPr>
              <a:t>github.com/BiomedSciAI/biomed-multi-alignment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21671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F2A5"/>
                </a:solidFill>
              </a:rPr>
              <a:t>Hugging Face model card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34840" y="2167128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7A9"/>
                </a:solidFill>
              </a:rPr>
              <a:t>huggingface.co/ibm-research/biomed.omics.bl.sm.ma-ted-458m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51560" y="26426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F2A5"/>
                </a:solidFill>
              </a:rPr>
              <a:t>MAMMAL paper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34840" y="2642616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7A9"/>
                </a:solidFill>
              </a:rPr>
              <a:t>arxiv.org/abs/2410.22367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" y="31181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F2A5"/>
                </a:solidFill>
              </a:rPr>
              <a:t>Qdrant Multitenancy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34840" y="3118104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7A9"/>
                </a:solidFill>
              </a:rPr>
              <a:t>qdrant.tech/documentation/manage-data/multitenancy/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51560" y="35935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F2A5"/>
                </a:solidFill>
              </a:rPr>
              <a:t>Open WebUI RBAC / Groups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34840" y="3593592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7A9"/>
                </a:solidFill>
              </a:rPr>
              <a:t>docs.openwebui.com/features/authentication-access/rbac/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51560" y="4069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F2A5"/>
                </a:solidFill>
              </a:rPr>
              <a:t>Apple PyTorch MPS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34840" y="4069080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7A9"/>
                </a:solidFill>
              </a:rPr>
              <a:t>developer.apple.com/metal/pytorch/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45445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F2A5"/>
                </a:solidFill>
              </a:rPr>
              <a:t>vLLM OpenAI-compatible server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34840" y="4544568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7A9"/>
                </a:solidFill>
              </a:rPr>
              <a:t>docs.vllm.ai/en/stable/serving/openai_compatible_server/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51560" y="50200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F2A5"/>
                </a:solidFill>
              </a:rPr>
              <a:t>OrbStack for local Docker on macOS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34840" y="5020056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7A9"/>
                </a:solidFill>
              </a:rPr>
              <a:t>orbstack.dev/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" y="55321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C857"/>
                </a:solidFill>
              </a:rPr>
              <a:t>Hinweis: Die Quellen belegen technische Machbarkeit/Komponenten. Klinische Wirksamkeit, regulatorische Einstufung und Datenschutz-Freigaben muessen im Pilot separat validiert werden.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6616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NALA-cORe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NALA-DNA-Med aPP - sichere lokale KI-Forschungsplattform</dc:title>
  <dc:subject>NALA-DNA-Med aPP Pitch for clinicians and funding committees</dc:subject>
  <dc:creator>NALA-cORe / Michael Dreher</dc:creator>
  <cp:lastModifiedBy>NALA-cORe / Michael Dreher</cp:lastModifiedBy>
  <cp:revision>1</cp:revision>
  <dcterms:created xsi:type="dcterms:W3CDTF">2026-05-27T06:36:07Z</dcterms:created>
  <dcterms:modified xsi:type="dcterms:W3CDTF">2026-05-27T06:36:07Z</dcterms:modified>
</cp:coreProperties>
</file>